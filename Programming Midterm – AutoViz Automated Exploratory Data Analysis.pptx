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5" r:id="rId8"/>
    <p:sldId id="268" r:id="rId9"/>
    <p:sldId id="270" r:id="rId10"/>
  </p:sldIdLst>
  <p:sldSz cx="18288000" cy="10287000"/>
  <p:notesSz cx="6858000" cy="9144000"/>
  <p:embeddedFontLst>
    <p:embeddedFont>
      <p:font typeface="Oswald" panose="00000500000000000000" pitchFamily="2" charset="0"/>
      <p:regular r:id="rId11"/>
    </p:embeddedFont>
    <p:embeddedFont>
      <p:font typeface="Oswald Bold" panose="020B0604020202020204" charset="0"/>
      <p:regular r:id="rId12"/>
    </p:embeddedFont>
    <p:embeddedFont>
      <p:font typeface="Poppins" panose="00000500000000000000" pitchFamily="2" charset="0"/>
      <p:regular r:id="rId13"/>
    </p:embeddedFont>
    <p:embeddedFont>
      <p:font typeface="Poppins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378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D4146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274726" cy="2224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9495491" y="1210179"/>
            <a:ext cx="7763809" cy="7650469"/>
          </a:xfrm>
          <a:custGeom>
            <a:avLst/>
            <a:gdLst/>
            <a:ahLst/>
            <a:cxnLst/>
            <a:rect l="l" t="t" r="r" b="b"/>
            <a:pathLst>
              <a:path w="7763809" h="7650469">
                <a:moveTo>
                  <a:pt x="0" y="0"/>
                </a:moveTo>
                <a:lnTo>
                  <a:pt x="7763809" y="0"/>
                </a:lnTo>
                <a:lnTo>
                  <a:pt x="7763809" y="7650469"/>
                </a:lnTo>
                <a:lnTo>
                  <a:pt x="0" y="76504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1418346" y="2546981"/>
            <a:ext cx="4321642" cy="6189852"/>
          </a:xfrm>
          <a:custGeom>
            <a:avLst/>
            <a:gdLst/>
            <a:ahLst/>
            <a:cxnLst/>
            <a:rect l="l" t="t" r="r" b="b"/>
            <a:pathLst>
              <a:path w="4321642" h="6189852">
                <a:moveTo>
                  <a:pt x="0" y="0"/>
                </a:moveTo>
                <a:lnTo>
                  <a:pt x="4321642" y="0"/>
                </a:lnTo>
                <a:lnTo>
                  <a:pt x="4321642" y="6189852"/>
                </a:lnTo>
                <a:lnTo>
                  <a:pt x="0" y="61898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943279" y="3688462"/>
            <a:ext cx="7200721" cy="1455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648"/>
              </a:lnSpc>
            </a:pPr>
            <a:r>
              <a:rPr lang="en-US" sz="5379" b="1">
                <a:solidFill>
                  <a:srgbClr val="CD4146"/>
                </a:solidFill>
                <a:latin typeface="Oswald Bold"/>
                <a:ea typeface="Oswald Bold"/>
                <a:cs typeface="Oswald Bold"/>
                <a:sym typeface="Oswald Bold"/>
              </a:rPr>
              <a:t>P</a:t>
            </a:r>
            <a:r>
              <a:rPr lang="en-US" sz="5379" b="1" u="none" strike="noStrike">
                <a:solidFill>
                  <a:srgbClr val="CD4146"/>
                </a:solidFill>
                <a:latin typeface="Oswald Bold"/>
                <a:ea typeface="Oswald Bold"/>
                <a:cs typeface="Oswald Bold"/>
                <a:sym typeface="Oswald Bold"/>
              </a:rPr>
              <a:t>ROGRAMMING MIDTERM  AUTOVIZ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43279" y="6613987"/>
            <a:ext cx="9100628" cy="1430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3"/>
              </a:lnSpc>
            </a:pPr>
            <a:r>
              <a:rPr lang="en-US" sz="4038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Alejandro Pinto </a:t>
            </a:r>
          </a:p>
          <a:p>
            <a:pPr algn="l">
              <a:lnSpc>
                <a:spcPts val="5653"/>
              </a:lnSpc>
            </a:pPr>
            <a:r>
              <a:rPr lang="en-US" sz="4038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OIM7502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4551487" y="7961893"/>
            <a:ext cx="5415627" cy="5336567"/>
          </a:xfrm>
          <a:custGeom>
            <a:avLst/>
            <a:gdLst/>
            <a:ahLst/>
            <a:cxnLst/>
            <a:rect l="l" t="t" r="r" b="b"/>
            <a:pathLst>
              <a:path w="5415627" h="5336567">
                <a:moveTo>
                  <a:pt x="0" y="0"/>
                </a:moveTo>
                <a:lnTo>
                  <a:pt x="5415626" y="0"/>
                </a:lnTo>
                <a:lnTo>
                  <a:pt x="5415626" y="5336567"/>
                </a:lnTo>
                <a:lnTo>
                  <a:pt x="0" y="53365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2406899" y="3213509"/>
            <a:ext cx="13474202" cy="5601781"/>
            <a:chOff x="0" y="0"/>
            <a:chExt cx="3548761" cy="147536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548761" cy="1475366"/>
            </a:xfrm>
            <a:custGeom>
              <a:avLst/>
              <a:gdLst/>
              <a:ahLst/>
              <a:cxnLst/>
              <a:rect l="l" t="t" r="r" b="b"/>
              <a:pathLst>
                <a:path w="3548761" h="1475366">
                  <a:moveTo>
                    <a:pt x="29303" y="0"/>
                  </a:moveTo>
                  <a:lnTo>
                    <a:pt x="3519458" y="0"/>
                  </a:lnTo>
                  <a:cubicBezTo>
                    <a:pt x="3527229" y="0"/>
                    <a:pt x="3534683" y="3087"/>
                    <a:pt x="3540178" y="8583"/>
                  </a:cubicBezTo>
                  <a:cubicBezTo>
                    <a:pt x="3545673" y="14078"/>
                    <a:pt x="3548761" y="21532"/>
                    <a:pt x="3548761" y="29303"/>
                  </a:cubicBezTo>
                  <a:lnTo>
                    <a:pt x="3548761" y="1446063"/>
                  </a:lnTo>
                  <a:cubicBezTo>
                    <a:pt x="3548761" y="1453835"/>
                    <a:pt x="3545673" y="1461288"/>
                    <a:pt x="3540178" y="1466783"/>
                  </a:cubicBezTo>
                  <a:cubicBezTo>
                    <a:pt x="3534683" y="1472279"/>
                    <a:pt x="3527229" y="1475366"/>
                    <a:pt x="3519458" y="1475366"/>
                  </a:cubicBezTo>
                  <a:lnTo>
                    <a:pt x="29303" y="1475366"/>
                  </a:lnTo>
                  <a:cubicBezTo>
                    <a:pt x="21532" y="1475366"/>
                    <a:pt x="14078" y="1472279"/>
                    <a:pt x="8583" y="1466783"/>
                  </a:cubicBezTo>
                  <a:cubicBezTo>
                    <a:pt x="3087" y="1461288"/>
                    <a:pt x="0" y="1453835"/>
                    <a:pt x="0" y="1446063"/>
                  </a:cubicBezTo>
                  <a:lnTo>
                    <a:pt x="0" y="29303"/>
                  </a:lnTo>
                  <a:cubicBezTo>
                    <a:pt x="0" y="21532"/>
                    <a:pt x="3087" y="14078"/>
                    <a:pt x="8583" y="8583"/>
                  </a:cubicBezTo>
                  <a:cubicBezTo>
                    <a:pt x="14078" y="3087"/>
                    <a:pt x="21532" y="0"/>
                    <a:pt x="293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D4146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3548761" cy="15325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2776591" y="3724084"/>
            <a:ext cx="5751935" cy="4580632"/>
          </a:xfrm>
          <a:custGeom>
            <a:avLst/>
            <a:gdLst/>
            <a:ahLst/>
            <a:cxnLst/>
            <a:rect l="l" t="t" r="r" b="b"/>
            <a:pathLst>
              <a:path w="5751935" h="4580632">
                <a:moveTo>
                  <a:pt x="0" y="0"/>
                </a:moveTo>
                <a:lnTo>
                  <a:pt x="5751935" y="0"/>
                </a:lnTo>
                <a:lnTo>
                  <a:pt x="5751935" y="4580632"/>
                </a:lnTo>
                <a:lnTo>
                  <a:pt x="0" y="45806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flipH="1" flipV="1">
            <a:off x="9134475" y="3213509"/>
            <a:ext cx="9525" cy="5601781"/>
          </a:xfrm>
          <a:prstGeom prst="line">
            <a:avLst/>
          </a:prstGeom>
          <a:ln w="19050" cap="flat">
            <a:solidFill>
              <a:srgbClr val="CD414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4295549" y="1382464"/>
            <a:ext cx="9696902" cy="1157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45"/>
              </a:lnSpc>
            </a:pPr>
            <a:r>
              <a:rPr lang="en-US" sz="6818">
                <a:solidFill>
                  <a:srgbClr val="CD4146"/>
                </a:solidFill>
                <a:latin typeface="Oswald"/>
                <a:ea typeface="Oswald"/>
                <a:cs typeface="Oswald"/>
                <a:sym typeface="Oswald"/>
              </a:rPr>
              <a:t>Project Objective &amp; Motivation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34475" y="3442326"/>
            <a:ext cx="6560340" cy="5575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Goal: Demonstrate how AutoViz automates Exploratory Data Analysis (EDA) using the U.S. Food Imports (1999–2023) dataset.</a:t>
            </a:r>
          </a:p>
          <a:p>
            <a:pPr algn="just">
              <a:lnSpc>
                <a:spcPts val="2940"/>
              </a:lnSpc>
            </a:pPr>
            <a:endParaRPr lang="en-US" sz="2100">
              <a:solidFill>
                <a:srgbClr val="CD414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Reveal key patterns and trends in U.S. food import volumes and values using automatic visualizations.</a:t>
            </a:r>
          </a:p>
          <a:p>
            <a:pPr algn="just">
              <a:lnSpc>
                <a:spcPts val="2940"/>
              </a:lnSpc>
            </a:pPr>
            <a:endParaRPr lang="en-US" sz="2100">
              <a:solidFill>
                <a:srgbClr val="CD414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Why AutoViz matters: It automates data cleaning, summarization, and visualization.</a:t>
            </a:r>
          </a:p>
          <a:p>
            <a:pPr algn="just">
              <a:lnSpc>
                <a:spcPts val="2940"/>
              </a:lnSpc>
            </a:pPr>
            <a:endParaRPr lang="en-US" sz="2100">
              <a:solidFill>
                <a:srgbClr val="CD414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Connect to course content: It directly applies topics such as data cleaning, grouping, filtering, descriptive statistics, and charting.</a:t>
            </a:r>
          </a:p>
          <a:p>
            <a:pPr algn="just">
              <a:lnSpc>
                <a:spcPts val="2940"/>
              </a:lnSpc>
            </a:pPr>
            <a:endParaRPr lang="en-US" sz="2100">
              <a:solidFill>
                <a:srgbClr val="CD414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-2639035" y="-2668283"/>
            <a:ext cx="5415627" cy="5336567"/>
          </a:xfrm>
          <a:custGeom>
            <a:avLst/>
            <a:gdLst/>
            <a:ahLst/>
            <a:cxnLst/>
            <a:rect l="l" t="t" r="r" b="b"/>
            <a:pathLst>
              <a:path w="5415627" h="5336567">
                <a:moveTo>
                  <a:pt x="0" y="0"/>
                </a:moveTo>
                <a:lnTo>
                  <a:pt x="5415626" y="0"/>
                </a:lnTo>
                <a:lnTo>
                  <a:pt x="5415626" y="5336566"/>
                </a:lnTo>
                <a:lnTo>
                  <a:pt x="0" y="53365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4467170" y="-3194657"/>
            <a:ext cx="6637037" cy="6540146"/>
          </a:xfrm>
          <a:custGeom>
            <a:avLst/>
            <a:gdLst/>
            <a:ahLst/>
            <a:cxnLst/>
            <a:rect l="l" t="t" r="r" b="b"/>
            <a:pathLst>
              <a:path w="6637037" h="6540146">
                <a:moveTo>
                  <a:pt x="0" y="0"/>
                </a:moveTo>
                <a:lnTo>
                  <a:pt x="6637037" y="0"/>
                </a:lnTo>
                <a:lnTo>
                  <a:pt x="6637037" y="6540146"/>
                </a:lnTo>
                <a:lnTo>
                  <a:pt x="0" y="65401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4388608" y="6714885"/>
            <a:ext cx="6637037" cy="6540146"/>
          </a:xfrm>
          <a:custGeom>
            <a:avLst/>
            <a:gdLst/>
            <a:ahLst/>
            <a:cxnLst/>
            <a:rect l="l" t="t" r="r" b="b"/>
            <a:pathLst>
              <a:path w="6637037" h="6540146">
                <a:moveTo>
                  <a:pt x="0" y="0"/>
                </a:moveTo>
                <a:lnTo>
                  <a:pt x="6637037" y="0"/>
                </a:lnTo>
                <a:lnTo>
                  <a:pt x="6637037" y="6540146"/>
                </a:lnTo>
                <a:lnTo>
                  <a:pt x="0" y="65401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813433" y="1028700"/>
            <a:ext cx="16661135" cy="8229600"/>
            <a:chOff x="0" y="0"/>
            <a:chExt cx="4388118" cy="21674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88118" cy="2167467"/>
            </a:xfrm>
            <a:custGeom>
              <a:avLst/>
              <a:gdLst/>
              <a:ahLst/>
              <a:cxnLst/>
              <a:rect l="l" t="t" r="r" b="b"/>
              <a:pathLst>
                <a:path w="4388118" h="2167467">
                  <a:moveTo>
                    <a:pt x="23698" y="0"/>
                  </a:moveTo>
                  <a:lnTo>
                    <a:pt x="4364420" y="0"/>
                  </a:lnTo>
                  <a:cubicBezTo>
                    <a:pt x="4370705" y="0"/>
                    <a:pt x="4376732" y="2497"/>
                    <a:pt x="4381177" y="6941"/>
                  </a:cubicBezTo>
                  <a:cubicBezTo>
                    <a:pt x="4385621" y="11385"/>
                    <a:pt x="4388118" y="17413"/>
                    <a:pt x="4388118" y="23698"/>
                  </a:cubicBezTo>
                  <a:lnTo>
                    <a:pt x="4388118" y="2143769"/>
                  </a:lnTo>
                  <a:cubicBezTo>
                    <a:pt x="4388118" y="2156857"/>
                    <a:pt x="4377508" y="2167467"/>
                    <a:pt x="4364420" y="2167467"/>
                  </a:cubicBezTo>
                  <a:lnTo>
                    <a:pt x="23698" y="2167467"/>
                  </a:lnTo>
                  <a:cubicBezTo>
                    <a:pt x="17413" y="2167467"/>
                    <a:pt x="11385" y="2164970"/>
                    <a:pt x="6941" y="2160526"/>
                  </a:cubicBezTo>
                  <a:cubicBezTo>
                    <a:pt x="2497" y="2156081"/>
                    <a:pt x="0" y="2150054"/>
                    <a:pt x="0" y="2143769"/>
                  </a:cubicBezTo>
                  <a:lnTo>
                    <a:pt x="0" y="23698"/>
                  </a:lnTo>
                  <a:cubicBezTo>
                    <a:pt x="0" y="10610"/>
                    <a:pt x="10610" y="0"/>
                    <a:pt x="2369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D4146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388118" cy="2224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295549" y="1099894"/>
            <a:ext cx="9696902" cy="1169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545"/>
              </a:lnSpc>
              <a:spcBef>
                <a:spcPct val="0"/>
              </a:spcBef>
            </a:pPr>
            <a:r>
              <a:rPr lang="en-US" sz="6818">
                <a:solidFill>
                  <a:srgbClr val="CD4146"/>
                </a:solidFill>
                <a:latin typeface="Oswald"/>
                <a:ea typeface="Oswald"/>
                <a:cs typeface="Oswald"/>
                <a:sym typeface="Oswald"/>
              </a:rPr>
              <a:t>Basic Conc</a:t>
            </a:r>
            <a:r>
              <a:rPr lang="en-US" sz="6818" u="none" strike="noStrike">
                <a:solidFill>
                  <a:srgbClr val="CD4146"/>
                </a:solidFill>
                <a:latin typeface="Oswald"/>
                <a:ea typeface="Oswald"/>
                <a:cs typeface="Oswald"/>
                <a:sym typeface="Oswald"/>
              </a:rPr>
              <a:t>epts of AutoViz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81904" y="2540429"/>
            <a:ext cx="3483279" cy="508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03"/>
              </a:lnSpc>
              <a:spcBef>
                <a:spcPct val="0"/>
              </a:spcBef>
            </a:pPr>
            <a:r>
              <a:rPr lang="en-US" sz="2787" b="1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What is Autoviz?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481904" y="3148965"/>
            <a:ext cx="6300223" cy="1118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AutoViz (Automatic Visualization) is an open-source Python library that performs Exploratory Data Analysis (EDA) automatically.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407173" y="4529747"/>
            <a:ext cx="5572133" cy="508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03"/>
              </a:lnSpc>
              <a:spcBef>
                <a:spcPct val="0"/>
              </a:spcBef>
            </a:pPr>
            <a:r>
              <a:rPr lang="en-US" sz="2787" b="1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How AutoViz Works Internally?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54843" y="5129917"/>
            <a:ext cx="7428632" cy="4227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just">
              <a:lnSpc>
                <a:spcPts val="2800"/>
              </a:lnSpc>
              <a:buAutoNum type="arabicPeriod"/>
            </a:pPr>
            <a:r>
              <a:rPr lang="en-US" sz="2000" b="1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Reads </a:t>
            </a: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the dataset (CSV or Pandas DataFrame).</a:t>
            </a:r>
          </a:p>
          <a:p>
            <a:pPr marL="431801" lvl="1" indent="-215900" algn="just">
              <a:lnSpc>
                <a:spcPts val="2800"/>
              </a:lnSpc>
              <a:buAutoNum type="arabicPeriod"/>
            </a:pPr>
            <a:r>
              <a:rPr lang="en-US" sz="2000" b="1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Detects</a:t>
            </a: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 data types (numeric, categorical, text, or date/time.</a:t>
            </a:r>
          </a:p>
          <a:p>
            <a:pPr marL="431801" lvl="1" indent="-215900" algn="just">
              <a:lnSpc>
                <a:spcPts val="2800"/>
              </a:lnSpc>
              <a:buAutoNum type="arabicPeriod"/>
            </a:pPr>
            <a:r>
              <a:rPr lang="en-US" sz="2000" b="1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Performs Data Quality checks</a:t>
            </a: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 – missing values, duplicates, high cardinality, mixed data types.</a:t>
            </a:r>
          </a:p>
          <a:p>
            <a:pPr marL="431801" lvl="1" indent="-215900" algn="just">
              <a:lnSpc>
                <a:spcPts val="2800"/>
              </a:lnSpc>
              <a:buAutoNum type="arabicPeriod"/>
            </a:pPr>
            <a:r>
              <a:rPr lang="en-US" sz="2000" b="1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Generates summaries</a:t>
            </a: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 – mean, min, max, standard deviation.</a:t>
            </a:r>
          </a:p>
          <a:p>
            <a:pPr marL="431801" lvl="1" indent="-215900" algn="just">
              <a:lnSpc>
                <a:spcPts val="2800"/>
              </a:lnSpc>
              <a:buAutoNum type="arabicPeriod"/>
            </a:pPr>
            <a:r>
              <a:rPr lang="en-US" sz="2000" b="1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Creates visualizations automatically</a:t>
            </a: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 – histograms, bar charts, boxplots, correlation heatmaps, pairplots, missing-value maps.</a:t>
            </a:r>
          </a:p>
          <a:p>
            <a:pPr marL="431801" lvl="1" indent="-215900" algn="just">
              <a:lnSpc>
                <a:spcPts val="2800"/>
              </a:lnSpc>
              <a:buAutoNum type="arabicPeriod"/>
            </a:pPr>
            <a:r>
              <a:rPr lang="en-US" sz="2000" b="1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Exports results</a:t>
            </a: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just">
              <a:lnSpc>
                <a:spcPts val="2660"/>
              </a:lnSpc>
            </a:pPr>
            <a:endParaRPr lang="en-US" sz="2000">
              <a:solidFill>
                <a:srgbClr val="CD414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719724" y="2535117"/>
            <a:ext cx="6043810" cy="508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03"/>
              </a:lnSpc>
              <a:spcBef>
                <a:spcPct val="0"/>
              </a:spcBef>
            </a:pPr>
            <a:r>
              <a:rPr lang="en-US" sz="2787" b="1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Visualizations AutoViz Produces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19724" y="3125762"/>
            <a:ext cx="6300223" cy="2604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Histograms </a:t>
            </a: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Boxplots </a:t>
            </a: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Bar charts </a:t>
            </a: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Correlation heatmaps </a:t>
            </a: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Missing-value heatmaps </a:t>
            </a: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Pairplots </a:t>
            </a:r>
          </a:p>
          <a:p>
            <a:pPr algn="just">
              <a:lnSpc>
                <a:spcPts val="2940"/>
              </a:lnSpc>
            </a:pPr>
            <a:endParaRPr lang="en-US" sz="2100">
              <a:solidFill>
                <a:srgbClr val="CD414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613579" y="5631078"/>
            <a:ext cx="3483279" cy="508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03"/>
              </a:lnSpc>
              <a:spcBef>
                <a:spcPct val="0"/>
              </a:spcBef>
            </a:pPr>
            <a:r>
              <a:rPr lang="en-US" sz="2787" b="1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Interpretation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613579" y="6223258"/>
            <a:ext cx="6300223" cy="1489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 incididunt ut labore et dolore magna aliqua. Ut enim ad minim veniam,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529919" y="2626154"/>
            <a:ext cx="699655" cy="699655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696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455188" y="4615472"/>
            <a:ext cx="699655" cy="699655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696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833325" y="2620842"/>
            <a:ext cx="699655" cy="699655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696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873624" y="5716803"/>
            <a:ext cx="699655" cy="699655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696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499047" y="2678014"/>
            <a:ext cx="780254" cy="510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03"/>
              </a:lnSpc>
              <a:spcBef>
                <a:spcPct val="0"/>
              </a:spcBef>
            </a:pPr>
            <a:r>
              <a:rPr lang="en-US" sz="278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14888" y="4667332"/>
            <a:ext cx="780254" cy="510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03"/>
              </a:lnSpc>
              <a:spcBef>
                <a:spcPct val="0"/>
              </a:spcBef>
            </a:pPr>
            <a:r>
              <a:rPr lang="en-US" sz="278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793025" y="2672702"/>
            <a:ext cx="780254" cy="510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03"/>
              </a:lnSpc>
              <a:spcBef>
                <a:spcPct val="0"/>
              </a:spcBef>
            </a:pPr>
            <a:r>
              <a:rPr lang="en-US" sz="278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833325" y="5768663"/>
            <a:ext cx="780254" cy="510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03"/>
              </a:lnSpc>
              <a:spcBef>
                <a:spcPct val="0"/>
              </a:spcBef>
            </a:pPr>
            <a:r>
              <a:rPr lang="en-US" sz="278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5005339" y="6293632"/>
            <a:ext cx="6017177" cy="5929335"/>
          </a:xfrm>
          <a:custGeom>
            <a:avLst/>
            <a:gdLst/>
            <a:ahLst/>
            <a:cxnLst/>
            <a:rect l="l" t="t" r="r" b="b"/>
            <a:pathLst>
              <a:path w="6017177" h="5929335">
                <a:moveTo>
                  <a:pt x="0" y="0"/>
                </a:moveTo>
                <a:lnTo>
                  <a:pt x="6017177" y="0"/>
                </a:lnTo>
                <a:lnTo>
                  <a:pt x="6017177" y="5929336"/>
                </a:lnTo>
                <a:lnTo>
                  <a:pt x="0" y="59293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1861792" y="-1069654"/>
            <a:ext cx="4258882" cy="4196709"/>
          </a:xfrm>
          <a:custGeom>
            <a:avLst/>
            <a:gdLst/>
            <a:ahLst/>
            <a:cxnLst/>
            <a:rect l="l" t="t" r="r" b="b"/>
            <a:pathLst>
              <a:path w="4258882" h="4196709">
                <a:moveTo>
                  <a:pt x="0" y="0"/>
                </a:moveTo>
                <a:lnTo>
                  <a:pt x="4258883" y="0"/>
                </a:lnTo>
                <a:lnTo>
                  <a:pt x="4258883" y="4196708"/>
                </a:lnTo>
                <a:lnTo>
                  <a:pt x="0" y="41967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568345" y="1182705"/>
            <a:ext cx="17151310" cy="7921590"/>
            <a:chOff x="0" y="0"/>
            <a:chExt cx="4517218" cy="208634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517218" cy="2086345"/>
            </a:xfrm>
            <a:custGeom>
              <a:avLst/>
              <a:gdLst/>
              <a:ahLst/>
              <a:cxnLst/>
              <a:rect l="l" t="t" r="r" b="b"/>
              <a:pathLst>
                <a:path w="4517218" h="2086345">
                  <a:moveTo>
                    <a:pt x="15347" y="0"/>
                  </a:moveTo>
                  <a:lnTo>
                    <a:pt x="4501871" y="0"/>
                  </a:lnTo>
                  <a:cubicBezTo>
                    <a:pt x="4510346" y="0"/>
                    <a:pt x="4517218" y="6871"/>
                    <a:pt x="4517218" y="15347"/>
                  </a:cubicBezTo>
                  <a:lnTo>
                    <a:pt x="4517218" y="2070997"/>
                  </a:lnTo>
                  <a:cubicBezTo>
                    <a:pt x="4517218" y="2075068"/>
                    <a:pt x="4515601" y="2078972"/>
                    <a:pt x="4512723" y="2081850"/>
                  </a:cubicBezTo>
                  <a:cubicBezTo>
                    <a:pt x="4509844" y="2084728"/>
                    <a:pt x="4505941" y="2086345"/>
                    <a:pt x="4501871" y="2086345"/>
                  </a:cubicBezTo>
                  <a:lnTo>
                    <a:pt x="15347" y="2086345"/>
                  </a:lnTo>
                  <a:cubicBezTo>
                    <a:pt x="11277" y="2086345"/>
                    <a:pt x="7373" y="2084728"/>
                    <a:pt x="4495" y="2081850"/>
                  </a:cubicBezTo>
                  <a:cubicBezTo>
                    <a:pt x="1617" y="2078972"/>
                    <a:pt x="0" y="2075068"/>
                    <a:pt x="0" y="2070997"/>
                  </a:cubicBezTo>
                  <a:lnTo>
                    <a:pt x="0" y="15347"/>
                  </a:lnTo>
                  <a:cubicBezTo>
                    <a:pt x="0" y="11277"/>
                    <a:pt x="1617" y="7373"/>
                    <a:pt x="4495" y="4495"/>
                  </a:cubicBezTo>
                  <a:cubicBezTo>
                    <a:pt x="7373" y="1617"/>
                    <a:pt x="11277" y="0"/>
                    <a:pt x="1534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D4146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517218" cy="21434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0691733" y="2753236"/>
            <a:ext cx="5698776" cy="5657330"/>
          </a:xfrm>
          <a:custGeom>
            <a:avLst/>
            <a:gdLst/>
            <a:ahLst/>
            <a:cxnLst/>
            <a:rect l="l" t="t" r="r" b="b"/>
            <a:pathLst>
              <a:path w="5698776" h="5657330">
                <a:moveTo>
                  <a:pt x="0" y="0"/>
                </a:moveTo>
                <a:lnTo>
                  <a:pt x="5698775" y="0"/>
                </a:lnTo>
                <a:lnTo>
                  <a:pt x="5698775" y="5657330"/>
                </a:lnTo>
                <a:lnTo>
                  <a:pt x="0" y="56573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4295549" y="1394813"/>
            <a:ext cx="10709790" cy="1169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545"/>
              </a:lnSpc>
              <a:spcBef>
                <a:spcPct val="0"/>
              </a:spcBef>
            </a:pPr>
            <a:r>
              <a:rPr lang="en-US" sz="6818">
                <a:solidFill>
                  <a:srgbClr val="CD4146"/>
                </a:solidFill>
                <a:latin typeface="Oswald"/>
                <a:ea typeface="Oswald"/>
                <a:cs typeface="Oswald"/>
                <a:sym typeface="Oswald"/>
              </a:rPr>
              <a:t>Why Da</a:t>
            </a:r>
            <a:r>
              <a:rPr lang="en-US" sz="6818" u="none" strike="noStrike">
                <a:solidFill>
                  <a:srgbClr val="CD4146"/>
                </a:solidFill>
                <a:latin typeface="Oswald"/>
                <a:ea typeface="Oswald"/>
                <a:cs typeface="Oswald"/>
                <a:sym typeface="Oswald"/>
              </a:rPr>
              <a:t>ta Scientists Use AutoViz?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9014" y="3069904"/>
            <a:ext cx="9164804" cy="5631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69"/>
              </a:lnSpc>
            </a:pPr>
            <a:r>
              <a:rPr lang="en-US" sz="2121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⏱️ Saves time: Generates dozens of charts in one line of code.</a:t>
            </a:r>
          </a:p>
          <a:p>
            <a:pPr algn="just">
              <a:lnSpc>
                <a:spcPts val="2969"/>
              </a:lnSpc>
            </a:pPr>
            <a:endParaRPr lang="en-US" sz="2121">
              <a:solidFill>
                <a:srgbClr val="CD414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969"/>
              </a:lnSpc>
            </a:pPr>
            <a:r>
              <a:rPr lang="en-US" sz="2121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📊 Comprehensive: Creates histograms, boxplots, correlations, and missing-value maps automatically.</a:t>
            </a:r>
          </a:p>
          <a:p>
            <a:pPr algn="just">
              <a:lnSpc>
                <a:spcPts val="2969"/>
              </a:lnSpc>
            </a:pPr>
            <a:endParaRPr lang="en-US" sz="2121">
              <a:solidFill>
                <a:srgbClr val="CD414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969"/>
              </a:lnSpc>
            </a:pPr>
            <a:r>
              <a:rPr lang="en-US" sz="2121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🧹 Reduces errors: Detects variable types, outliers, and missing data instantly.</a:t>
            </a:r>
          </a:p>
          <a:p>
            <a:pPr algn="just">
              <a:lnSpc>
                <a:spcPts val="2969"/>
              </a:lnSpc>
            </a:pPr>
            <a:endParaRPr lang="en-US" sz="2121">
              <a:solidFill>
                <a:srgbClr val="CD414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969"/>
              </a:lnSpc>
            </a:pPr>
            <a:r>
              <a:rPr lang="en-US" sz="2121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💾 Scales easily: Handles large datasets through efficient sampling.</a:t>
            </a:r>
          </a:p>
          <a:p>
            <a:pPr algn="just">
              <a:lnSpc>
                <a:spcPts val="2969"/>
              </a:lnSpc>
            </a:pPr>
            <a:r>
              <a:rPr lang="en-US" sz="2121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🤝 Shareable: Exports interactive HTML dashboards for collaboration.</a:t>
            </a:r>
          </a:p>
          <a:p>
            <a:pPr algn="just">
              <a:lnSpc>
                <a:spcPts val="2969"/>
              </a:lnSpc>
            </a:pPr>
            <a:endParaRPr lang="en-US" sz="2121">
              <a:solidFill>
                <a:srgbClr val="CD414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969"/>
              </a:lnSpc>
            </a:pPr>
            <a:r>
              <a:rPr lang="en-US" sz="2121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🧩 Familiar foundation: Built on Pandas, NumPy, and Matplotlib — same tools used in class.</a:t>
            </a:r>
          </a:p>
          <a:p>
            <a:pPr algn="just">
              <a:lnSpc>
                <a:spcPts val="2969"/>
              </a:lnSpc>
            </a:pPr>
            <a:endParaRPr lang="en-US" sz="2121">
              <a:solidFill>
                <a:srgbClr val="CD414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143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4467170" y="-3194657"/>
            <a:ext cx="6637037" cy="6540146"/>
          </a:xfrm>
          <a:custGeom>
            <a:avLst/>
            <a:gdLst/>
            <a:ahLst/>
            <a:cxnLst/>
            <a:rect l="l" t="t" r="r" b="b"/>
            <a:pathLst>
              <a:path w="6637037" h="6540146">
                <a:moveTo>
                  <a:pt x="0" y="0"/>
                </a:moveTo>
                <a:lnTo>
                  <a:pt x="6637037" y="0"/>
                </a:lnTo>
                <a:lnTo>
                  <a:pt x="6637037" y="6540146"/>
                </a:lnTo>
                <a:lnTo>
                  <a:pt x="0" y="65401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4388608" y="6714885"/>
            <a:ext cx="6637037" cy="6540146"/>
          </a:xfrm>
          <a:custGeom>
            <a:avLst/>
            <a:gdLst/>
            <a:ahLst/>
            <a:cxnLst/>
            <a:rect l="l" t="t" r="r" b="b"/>
            <a:pathLst>
              <a:path w="6637037" h="6540146">
                <a:moveTo>
                  <a:pt x="0" y="0"/>
                </a:moveTo>
                <a:lnTo>
                  <a:pt x="6637037" y="0"/>
                </a:lnTo>
                <a:lnTo>
                  <a:pt x="6637037" y="6540146"/>
                </a:lnTo>
                <a:lnTo>
                  <a:pt x="0" y="65401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813433" y="1028700"/>
            <a:ext cx="16661135" cy="8229600"/>
            <a:chOff x="0" y="0"/>
            <a:chExt cx="4388118" cy="21674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88118" cy="2167467"/>
            </a:xfrm>
            <a:custGeom>
              <a:avLst/>
              <a:gdLst/>
              <a:ahLst/>
              <a:cxnLst/>
              <a:rect l="l" t="t" r="r" b="b"/>
              <a:pathLst>
                <a:path w="4388118" h="2167467">
                  <a:moveTo>
                    <a:pt x="23698" y="0"/>
                  </a:moveTo>
                  <a:lnTo>
                    <a:pt x="4364420" y="0"/>
                  </a:lnTo>
                  <a:cubicBezTo>
                    <a:pt x="4370705" y="0"/>
                    <a:pt x="4376732" y="2497"/>
                    <a:pt x="4381177" y="6941"/>
                  </a:cubicBezTo>
                  <a:cubicBezTo>
                    <a:pt x="4385621" y="11385"/>
                    <a:pt x="4388118" y="17413"/>
                    <a:pt x="4388118" y="23698"/>
                  </a:cubicBezTo>
                  <a:lnTo>
                    <a:pt x="4388118" y="2143769"/>
                  </a:lnTo>
                  <a:cubicBezTo>
                    <a:pt x="4388118" y="2156857"/>
                    <a:pt x="4377508" y="2167467"/>
                    <a:pt x="4364420" y="2167467"/>
                  </a:cubicBezTo>
                  <a:lnTo>
                    <a:pt x="23698" y="2167467"/>
                  </a:lnTo>
                  <a:cubicBezTo>
                    <a:pt x="17413" y="2167467"/>
                    <a:pt x="11385" y="2164970"/>
                    <a:pt x="6941" y="2160526"/>
                  </a:cubicBezTo>
                  <a:cubicBezTo>
                    <a:pt x="2497" y="2156081"/>
                    <a:pt x="0" y="2150054"/>
                    <a:pt x="0" y="2143769"/>
                  </a:cubicBezTo>
                  <a:lnTo>
                    <a:pt x="0" y="23698"/>
                  </a:lnTo>
                  <a:cubicBezTo>
                    <a:pt x="0" y="10610"/>
                    <a:pt x="10610" y="0"/>
                    <a:pt x="2369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D4146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388118" cy="2224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295549" y="1099894"/>
            <a:ext cx="9696902" cy="1169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545"/>
              </a:lnSpc>
              <a:spcBef>
                <a:spcPct val="0"/>
              </a:spcBef>
            </a:pPr>
            <a:r>
              <a:rPr lang="en-US" sz="6818">
                <a:solidFill>
                  <a:srgbClr val="CD4146"/>
                </a:solidFill>
                <a:latin typeface="Oswald"/>
                <a:ea typeface="Oswald"/>
                <a:cs typeface="Oswald"/>
                <a:sym typeface="Oswald"/>
              </a:rPr>
              <a:t>Key Param</a:t>
            </a:r>
            <a:r>
              <a:rPr lang="en-US" sz="6818" u="none" strike="noStrike">
                <a:solidFill>
                  <a:srgbClr val="CD4146"/>
                </a:solidFill>
                <a:latin typeface="Oswald"/>
                <a:ea typeface="Oswald"/>
                <a:cs typeface="Oswald"/>
                <a:sym typeface="Oswald"/>
              </a:rPr>
              <a:t>eters to Know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811949" y="7641162"/>
            <a:ext cx="12881682" cy="2021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1"/>
              </a:lnSpc>
              <a:spcBef>
                <a:spcPct val="0"/>
              </a:spcBef>
            </a:pPr>
            <a:r>
              <a:rPr lang="en-US" sz="2286" dirty="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from </a:t>
            </a:r>
            <a:r>
              <a:rPr lang="en-US" sz="2286" dirty="0" err="1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autoviz</a:t>
            </a:r>
            <a:r>
              <a:rPr lang="en-US" sz="2286" dirty="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 import </a:t>
            </a:r>
            <a:r>
              <a:rPr lang="en-US" sz="2286" dirty="0" err="1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AutoViz_Class</a:t>
            </a:r>
            <a:endParaRPr lang="en-US" sz="2286" dirty="0">
              <a:solidFill>
                <a:srgbClr val="CD414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201"/>
              </a:lnSpc>
              <a:spcBef>
                <a:spcPct val="0"/>
              </a:spcBef>
            </a:pPr>
            <a:r>
              <a:rPr lang="en-US" sz="2286" dirty="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AV = </a:t>
            </a:r>
            <a:r>
              <a:rPr lang="en-US" sz="2286" dirty="0" err="1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AutoViz_Class</a:t>
            </a:r>
            <a:r>
              <a:rPr lang="en-US" sz="2286" dirty="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()</a:t>
            </a:r>
          </a:p>
          <a:p>
            <a:pPr algn="l">
              <a:lnSpc>
                <a:spcPts val="3201"/>
              </a:lnSpc>
              <a:spcBef>
                <a:spcPct val="0"/>
              </a:spcBef>
            </a:pPr>
            <a:r>
              <a:rPr lang="en-US" sz="2286" dirty="0" err="1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AV.AutoViz</a:t>
            </a:r>
            <a:r>
              <a:rPr lang="en-US" sz="2286" dirty="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("us_food_imports.csv", </a:t>
            </a:r>
            <a:r>
              <a:rPr lang="en-US" sz="2286" dirty="0" err="1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depVar</a:t>
            </a:r>
            <a:r>
              <a:rPr lang="en-US" sz="2286" dirty="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="", </a:t>
            </a:r>
            <a:r>
              <a:rPr lang="en-US" sz="2286" dirty="0" err="1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chart_format</a:t>
            </a:r>
            <a:r>
              <a:rPr lang="en-US" sz="2286" dirty="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="</a:t>
            </a:r>
            <a:r>
              <a:rPr lang="en-US" sz="2286" dirty="0" err="1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svg</a:t>
            </a:r>
            <a:r>
              <a:rPr lang="en-US" sz="2286" dirty="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", verbose=1)</a:t>
            </a:r>
          </a:p>
          <a:p>
            <a:pPr algn="l">
              <a:lnSpc>
                <a:spcPts val="3201"/>
              </a:lnSpc>
              <a:spcBef>
                <a:spcPct val="0"/>
              </a:spcBef>
            </a:pPr>
            <a:endParaRPr lang="en-US" sz="2286" dirty="0">
              <a:solidFill>
                <a:srgbClr val="CD414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3201"/>
              </a:lnSpc>
              <a:spcBef>
                <a:spcPct val="0"/>
              </a:spcBef>
            </a:pPr>
            <a:endParaRPr lang="en-US" sz="2286" dirty="0">
              <a:solidFill>
                <a:srgbClr val="CD414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502640" y="7053697"/>
            <a:ext cx="1585817" cy="403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01"/>
              </a:lnSpc>
              <a:spcBef>
                <a:spcPct val="0"/>
              </a:spcBef>
            </a:pPr>
            <a:r>
              <a:rPr lang="en-US" sz="2286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Python: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A3682B7-FFF4-2A84-B954-00C2205556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9808905"/>
              </p:ext>
            </p:extLst>
          </p:nvPr>
        </p:nvGraphicFramePr>
        <p:xfrm>
          <a:off x="4073316" y="2336279"/>
          <a:ext cx="9696903" cy="4301040"/>
        </p:xfrm>
        <a:graphic>
          <a:graphicData uri="http://schemas.openxmlformats.org/drawingml/2006/table">
            <a:tbl>
              <a:tblPr/>
              <a:tblGrid>
                <a:gridCol w="3232301">
                  <a:extLst>
                    <a:ext uri="{9D8B030D-6E8A-4147-A177-3AD203B41FA5}">
                      <a16:colId xmlns:a16="http://schemas.microsoft.com/office/drawing/2014/main" val="3726172413"/>
                    </a:ext>
                  </a:extLst>
                </a:gridCol>
                <a:gridCol w="3232301">
                  <a:extLst>
                    <a:ext uri="{9D8B030D-6E8A-4147-A177-3AD203B41FA5}">
                      <a16:colId xmlns:a16="http://schemas.microsoft.com/office/drawing/2014/main" val="3841054162"/>
                    </a:ext>
                  </a:extLst>
                </a:gridCol>
                <a:gridCol w="3232301">
                  <a:extLst>
                    <a:ext uri="{9D8B030D-6E8A-4147-A177-3AD203B41FA5}">
                      <a16:colId xmlns:a16="http://schemas.microsoft.com/office/drawing/2014/main" val="3475958339"/>
                    </a:ext>
                  </a:extLst>
                </a:gridCol>
              </a:tblGrid>
              <a:tr h="452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Parameter</a:t>
                      </a:r>
                    </a:p>
                  </a:txBody>
                  <a:tcPr anchor="ctr">
                    <a:lnL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Description</a:t>
                      </a:r>
                    </a:p>
                  </a:txBody>
                  <a:tcPr anchor="ctr">
                    <a:lnL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Example</a:t>
                      </a:r>
                    </a:p>
                  </a:txBody>
                  <a:tcPr anchor="ctr">
                    <a:lnL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5290297"/>
                  </a:ext>
                </a:extLst>
              </a:tr>
              <a:tr h="452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filename</a:t>
                      </a:r>
                    </a:p>
                  </a:txBody>
                  <a:tcPr anchor="ctr">
                    <a:lnL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Path to dataset (CSV)</a:t>
                      </a:r>
                    </a:p>
                  </a:txBody>
                  <a:tcPr anchor="ctr">
                    <a:lnL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"data.csv"</a:t>
                      </a:r>
                    </a:p>
                  </a:txBody>
                  <a:tcPr anchor="ctr">
                    <a:lnL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466073"/>
                  </a:ext>
                </a:extLst>
              </a:tr>
              <a:tr h="7922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dfte</a:t>
                      </a:r>
                    </a:p>
                  </a:txBody>
                  <a:tcPr anchor="ctr">
                    <a:lnL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DataFrame input instead of file</a:t>
                      </a:r>
                    </a:p>
                  </a:txBody>
                  <a:tcPr anchor="ctr">
                    <a:lnL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dfte=my_df</a:t>
                      </a:r>
                    </a:p>
                  </a:txBody>
                  <a:tcPr anchor="ctr">
                    <a:lnL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5153164"/>
                  </a:ext>
                </a:extLst>
              </a:tr>
              <a:tr h="7922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depVar</a:t>
                      </a:r>
                    </a:p>
                  </a:txBody>
                  <a:tcPr anchor="ctr">
                    <a:lnL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Dependent / target variable</a:t>
                      </a:r>
                    </a:p>
                  </a:txBody>
                  <a:tcPr anchor="ctr">
                    <a:lnL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"Price" or "" for unsupervised</a:t>
                      </a:r>
                    </a:p>
                  </a:txBody>
                  <a:tcPr anchor="ctr">
                    <a:lnL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351918"/>
                  </a:ext>
                </a:extLst>
              </a:tr>
              <a:tr h="452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chart_format</a:t>
                      </a:r>
                    </a:p>
                  </a:txBody>
                  <a:tcPr anchor="ctr">
                    <a:lnL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Output style</a:t>
                      </a:r>
                    </a:p>
                  </a:txBody>
                  <a:tcPr anchor="ctr">
                    <a:lnL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'svg', 'bokeh', 'html'</a:t>
                      </a:r>
                    </a:p>
                  </a:txBody>
                  <a:tcPr anchor="ctr">
                    <a:lnL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074290"/>
                  </a:ext>
                </a:extLst>
              </a:tr>
              <a:tr h="452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verbose</a:t>
                      </a:r>
                    </a:p>
                  </a:txBody>
                  <a:tcPr anchor="ctr">
                    <a:lnL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Level of detail in output</a:t>
                      </a:r>
                    </a:p>
                  </a:txBody>
                  <a:tcPr anchor="ctr">
                    <a:lnL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 = show plots</a:t>
                      </a:r>
                    </a:p>
                  </a:txBody>
                  <a:tcPr anchor="ctr">
                    <a:lnL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8275282"/>
                  </a:ext>
                </a:extLst>
              </a:tr>
              <a:tr h="452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max_rows_analyzed</a:t>
                      </a:r>
                    </a:p>
                  </a:txBody>
                  <a:tcPr anchor="ctr">
                    <a:lnL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Sample size limit</a:t>
                      </a:r>
                    </a:p>
                  </a:txBody>
                  <a:tcPr anchor="ctr">
                    <a:lnL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150000</a:t>
                      </a:r>
                    </a:p>
                  </a:txBody>
                  <a:tcPr anchor="ctr">
                    <a:lnL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013600"/>
                  </a:ext>
                </a:extLst>
              </a:tr>
              <a:tr h="452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save_plot_dir</a:t>
                      </a:r>
                    </a:p>
                  </a:txBody>
                  <a:tcPr anchor="ctr">
                    <a:lnL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Folder to save charts</a:t>
                      </a:r>
                    </a:p>
                  </a:txBody>
                  <a:tcPr anchor="ctr">
                    <a:lnL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"</a:t>
                      </a:r>
                      <a:r>
                        <a:rPr lang="en-US" dirty="0" err="1">
                          <a:effectLst/>
                        </a:rPr>
                        <a:t>autoviz_plots</a:t>
                      </a:r>
                      <a:r>
                        <a:rPr lang="en-US" dirty="0">
                          <a:effectLst/>
                        </a:rPr>
                        <a:t>"</a:t>
                      </a:r>
                    </a:p>
                  </a:txBody>
                  <a:tcPr anchor="ctr">
                    <a:lnL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6669960"/>
                  </a:ext>
                </a:extLst>
              </a:tr>
            </a:tbl>
          </a:graphicData>
        </a:graphic>
      </p:graphicFrame>
      <p:sp>
        <p:nvSpPr>
          <p:cNvPr id="13" name="Rectangle 1">
            <a:extLst>
              <a:ext uri="{FF2B5EF4-FFF2-40B4-BE49-F238E27FC236}">
                <a16:creationId xmlns:a16="http://schemas.microsoft.com/office/drawing/2014/main" id="{62F1F36D-FAFA-EE5C-AE63-F6934512E2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3315" y="2336120"/>
            <a:ext cx="2154867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4467170" y="-3194657"/>
            <a:ext cx="6637037" cy="6540146"/>
          </a:xfrm>
          <a:custGeom>
            <a:avLst/>
            <a:gdLst/>
            <a:ahLst/>
            <a:cxnLst/>
            <a:rect l="l" t="t" r="r" b="b"/>
            <a:pathLst>
              <a:path w="6637037" h="6540146">
                <a:moveTo>
                  <a:pt x="0" y="0"/>
                </a:moveTo>
                <a:lnTo>
                  <a:pt x="6637037" y="0"/>
                </a:lnTo>
                <a:lnTo>
                  <a:pt x="6637037" y="6540146"/>
                </a:lnTo>
                <a:lnTo>
                  <a:pt x="0" y="65401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4388608" y="6714885"/>
            <a:ext cx="6637037" cy="6540146"/>
          </a:xfrm>
          <a:custGeom>
            <a:avLst/>
            <a:gdLst/>
            <a:ahLst/>
            <a:cxnLst/>
            <a:rect l="l" t="t" r="r" b="b"/>
            <a:pathLst>
              <a:path w="6637037" h="6540146">
                <a:moveTo>
                  <a:pt x="0" y="0"/>
                </a:moveTo>
                <a:lnTo>
                  <a:pt x="6637037" y="0"/>
                </a:lnTo>
                <a:lnTo>
                  <a:pt x="6637037" y="6540146"/>
                </a:lnTo>
                <a:lnTo>
                  <a:pt x="0" y="65401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813433" y="728019"/>
            <a:ext cx="16661135" cy="8229600"/>
            <a:chOff x="0" y="0"/>
            <a:chExt cx="4388118" cy="21674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88118" cy="2167467"/>
            </a:xfrm>
            <a:custGeom>
              <a:avLst/>
              <a:gdLst/>
              <a:ahLst/>
              <a:cxnLst/>
              <a:rect l="l" t="t" r="r" b="b"/>
              <a:pathLst>
                <a:path w="4388118" h="2167467">
                  <a:moveTo>
                    <a:pt x="23698" y="0"/>
                  </a:moveTo>
                  <a:lnTo>
                    <a:pt x="4364420" y="0"/>
                  </a:lnTo>
                  <a:cubicBezTo>
                    <a:pt x="4370705" y="0"/>
                    <a:pt x="4376732" y="2497"/>
                    <a:pt x="4381177" y="6941"/>
                  </a:cubicBezTo>
                  <a:cubicBezTo>
                    <a:pt x="4385621" y="11385"/>
                    <a:pt x="4388118" y="17413"/>
                    <a:pt x="4388118" y="23698"/>
                  </a:cubicBezTo>
                  <a:lnTo>
                    <a:pt x="4388118" y="2143769"/>
                  </a:lnTo>
                  <a:cubicBezTo>
                    <a:pt x="4388118" y="2156857"/>
                    <a:pt x="4377508" y="2167467"/>
                    <a:pt x="4364420" y="2167467"/>
                  </a:cubicBezTo>
                  <a:lnTo>
                    <a:pt x="23698" y="2167467"/>
                  </a:lnTo>
                  <a:cubicBezTo>
                    <a:pt x="17413" y="2167467"/>
                    <a:pt x="11385" y="2164970"/>
                    <a:pt x="6941" y="2160526"/>
                  </a:cubicBezTo>
                  <a:cubicBezTo>
                    <a:pt x="2497" y="2156081"/>
                    <a:pt x="0" y="2150054"/>
                    <a:pt x="0" y="2143769"/>
                  </a:cubicBezTo>
                  <a:lnTo>
                    <a:pt x="0" y="23698"/>
                  </a:lnTo>
                  <a:cubicBezTo>
                    <a:pt x="0" y="10610"/>
                    <a:pt x="10610" y="0"/>
                    <a:pt x="2369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D4146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388118" cy="2224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295549" y="1099894"/>
            <a:ext cx="9696902" cy="1169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545"/>
              </a:lnSpc>
              <a:spcBef>
                <a:spcPct val="0"/>
              </a:spcBef>
            </a:pPr>
            <a:r>
              <a:rPr lang="en-US" sz="6818">
                <a:solidFill>
                  <a:srgbClr val="CD4146"/>
                </a:solidFill>
                <a:latin typeface="Oswald"/>
                <a:ea typeface="Oswald"/>
                <a:cs typeface="Oswald"/>
                <a:sym typeface="Oswald"/>
              </a:rPr>
              <a:t>In simple terms...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99419" y="2385260"/>
            <a:ext cx="15365417" cy="1001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03"/>
              </a:lnSpc>
              <a:spcBef>
                <a:spcPct val="0"/>
              </a:spcBef>
            </a:pPr>
            <a:r>
              <a:rPr lang="en-US" sz="2787" b="1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We’re going to use AutoViz to understand how different factors influence students’ exam performance — without manually coding every chart or analysis.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657023" y="3965474"/>
            <a:ext cx="5572133" cy="508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03"/>
              </a:lnSpc>
              <a:spcBef>
                <a:spcPct val="0"/>
              </a:spcBef>
            </a:pPr>
            <a:r>
              <a:rPr lang="en-US" sz="2787" b="1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How is AUTOVIZ going to work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28773" y="4785669"/>
            <a:ext cx="7428632" cy="331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Instead of analyzing all 25 years manually, AutoViz will automatically visualize patterns like:</a:t>
            </a:r>
          </a:p>
          <a:p>
            <a:pPr algn="just">
              <a:lnSpc>
                <a:spcPts val="2940"/>
              </a:lnSpc>
            </a:pPr>
            <a:endParaRPr lang="en-US" sz="2100">
              <a:solidFill>
                <a:srgbClr val="CD414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How imports have grown over time</a:t>
            </a: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Which food categories dominate</a:t>
            </a: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Which countries supply the most food</a:t>
            </a: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How import values fluctuate by region</a:t>
            </a:r>
          </a:p>
          <a:p>
            <a:pPr algn="just">
              <a:lnSpc>
                <a:spcPts val="2940"/>
              </a:lnSpc>
            </a:pPr>
            <a:endParaRPr lang="en-US" sz="2100">
              <a:solidFill>
                <a:srgbClr val="CD414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660"/>
              </a:lnSpc>
            </a:pPr>
            <a:endParaRPr lang="en-US" sz="2100">
              <a:solidFill>
                <a:srgbClr val="CD414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1343697" y="3965474"/>
            <a:ext cx="6043810" cy="508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03"/>
              </a:lnSpc>
              <a:spcBef>
                <a:spcPct val="0"/>
              </a:spcBef>
            </a:pPr>
            <a:r>
              <a:rPr lang="en-US" sz="2787" b="1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What are we doing ?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087283" y="4785669"/>
            <a:ext cx="6300223" cy="2604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Load the data </a:t>
            </a: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Clean the data </a:t>
            </a: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Run AutoViz </a:t>
            </a: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Look at the results </a:t>
            </a: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Interpret the insights </a:t>
            </a:r>
          </a:p>
          <a:p>
            <a:pPr algn="just">
              <a:lnSpc>
                <a:spcPts val="2940"/>
              </a:lnSpc>
            </a:pPr>
            <a:endParaRPr lang="en-US" sz="2100">
              <a:solidFill>
                <a:srgbClr val="CD414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940"/>
              </a:lnSpc>
            </a:pPr>
            <a:endParaRPr lang="en-US" sz="2100">
              <a:solidFill>
                <a:srgbClr val="CD414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1345783" y="3853248"/>
            <a:ext cx="699655" cy="699655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696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049639" y="3853248"/>
            <a:ext cx="699655" cy="699655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696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314910" y="3905108"/>
            <a:ext cx="780254" cy="510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03"/>
              </a:lnSpc>
              <a:spcBef>
                <a:spcPct val="0"/>
              </a:spcBef>
            </a:pPr>
            <a:r>
              <a:rPr lang="en-US" sz="278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009339" y="3905108"/>
            <a:ext cx="780254" cy="510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03"/>
              </a:lnSpc>
              <a:spcBef>
                <a:spcPct val="0"/>
              </a:spcBef>
            </a:pPr>
            <a:r>
              <a:rPr lang="en-US" sz="278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5349725" y="363417"/>
            <a:ext cx="7588549" cy="905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50"/>
              </a:lnSpc>
              <a:spcBef>
                <a:spcPct val="0"/>
              </a:spcBef>
            </a:pPr>
            <a:r>
              <a:rPr lang="en-US" sz="6818" dirty="0" err="1">
                <a:solidFill>
                  <a:srgbClr val="CD4146"/>
                </a:solidFill>
                <a:latin typeface="Oswald"/>
                <a:ea typeface="Oswald"/>
                <a:cs typeface="Oswald"/>
                <a:sym typeface="Oswald"/>
              </a:rPr>
              <a:t>Au</a:t>
            </a:r>
            <a:r>
              <a:rPr lang="en-US" sz="6818" u="none" strike="noStrike" dirty="0" err="1">
                <a:solidFill>
                  <a:srgbClr val="CD4146"/>
                </a:solidFill>
                <a:latin typeface="Oswald"/>
                <a:ea typeface="Oswald"/>
                <a:cs typeface="Oswald"/>
                <a:sym typeface="Oswald"/>
              </a:rPr>
              <a:t>toViz</a:t>
            </a:r>
            <a:r>
              <a:rPr lang="en-US" sz="6818" u="none" strike="noStrike" dirty="0">
                <a:solidFill>
                  <a:srgbClr val="CD4146"/>
                </a:solidFill>
                <a:latin typeface="Oswald"/>
                <a:ea typeface="Oswald"/>
                <a:cs typeface="Oswald"/>
                <a:sym typeface="Oswald"/>
              </a:rPr>
              <a:t> Visual Results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114276" y="4784245"/>
            <a:ext cx="780254" cy="510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03"/>
              </a:lnSpc>
              <a:spcBef>
                <a:spcPct val="0"/>
              </a:spcBef>
            </a:pPr>
            <a:r>
              <a:rPr lang="en-US" sz="2787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154576" y="6124428"/>
            <a:ext cx="780254" cy="510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03"/>
              </a:lnSpc>
              <a:spcBef>
                <a:spcPct val="0"/>
              </a:spcBef>
            </a:pPr>
            <a:r>
              <a:rPr lang="en-US" sz="278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114276" y="7461738"/>
            <a:ext cx="780254" cy="510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03"/>
              </a:lnSpc>
              <a:spcBef>
                <a:spcPct val="0"/>
              </a:spcBef>
            </a:pPr>
            <a:r>
              <a:rPr lang="en-US" sz="278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EAD7670-5794-B2DD-9A8F-EC4014370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00" y="1536949"/>
            <a:ext cx="11446196" cy="401133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7CAE3E3-4F41-16AA-C3C4-B9D70FB7B2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3591" y="5698702"/>
            <a:ext cx="11568205" cy="416878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5247346" y="-3626464"/>
            <a:ext cx="6081308" cy="5992529"/>
          </a:xfrm>
          <a:custGeom>
            <a:avLst/>
            <a:gdLst/>
            <a:ahLst/>
            <a:cxnLst/>
            <a:rect l="l" t="t" r="r" b="b"/>
            <a:pathLst>
              <a:path w="6081308" h="5992529">
                <a:moveTo>
                  <a:pt x="0" y="0"/>
                </a:moveTo>
                <a:lnTo>
                  <a:pt x="6081308" y="0"/>
                </a:lnTo>
                <a:lnTo>
                  <a:pt x="6081308" y="5992530"/>
                </a:lnTo>
                <a:lnTo>
                  <a:pt x="0" y="59925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522393" y="1911293"/>
            <a:ext cx="17243215" cy="5317635"/>
            <a:chOff x="0" y="0"/>
            <a:chExt cx="4541423" cy="140052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541423" cy="1400529"/>
            </a:xfrm>
            <a:custGeom>
              <a:avLst/>
              <a:gdLst/>
              <a:ahLst/>
              <a:cxnLst/>
              <a:rect l="l" t="t" r="r" b="b"/>
              <a:pathLst>
                <a:path w="4541423" h="1400529">
                  <a:moveTo>
                    <a:pt x="15265" y="0"/>
                  </a:moveTo>
                  <a:lnTo>
                    <a:pt x="4526157" y="0"/>
                  </a:lnTo>
                  <a:cubicBezTo>
                    <a:pt x="4534588" y="0"/>
                    <a:pt x="4541423" y="6835"/>
                    <a:pt x="4541423" y="15265"/>
                  </a:cubicBezTo>
                  <a:lnTo>
                    <a:pt x="4541423" y="1385264"/>
                  </a:lnTo>
                  <a:cubicBezTo>
                    <a:pt x="4541423" y="1393695"/>
                    <a:pt x="4534588" y="1400529"/>
                    <a:pt x="4526157" y="1400529"/>
                  </a:cubicBezTo>
                  <a:lnTo>
                    <a:pt x="15265" y="1400529"/>
                  </a:lnTo>
                  <a:cubicBezTo>
                    <a:pt x="6835" y="1400529"/>
                    <a:pt x="0" y="1393695"/>
                    <a:pt x="0" y="1385264"/>
                  </a:cubicBezTo>
                  <a:lnTo>
                    <a:pt x="0" y="15265"/>
                  </a:lnTo>
                  <a:cubicBezTo>
                    <a:pt x="0" y="6835"/>
                    <a:pt x="6835" y="0"/>
                    <a:pt x="1526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D4146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4541423" cy="14576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400602" y="4771709"/>
            <a:ext cx="699655" cy="699655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696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88855" y="4771709"/>
            <a:ext cx="699655" cy="699655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696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3028471" y="2232716"/>
            <a:ext cx="12231059" cy="1169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545"/>
              </a:lnSpc>
              <a:spcBef>
                <a:spcPct val="0"/>
              </a:spcBef>
            </a:pPr>
            <a:r>
              <a:rPr lang="en-US" sz="6818">
                <a:solidFill>
                  <a:srgbClr val="CD4146"/>
                </a:solidFill>
                <a:latin typeface="Oswald"/>
                <a:ea typeface="Oswald"/>
                <a:cs typeface="Oswald"/>
                <a:sym typeface="Oswald"/>
              </a:rPr>
              <a:t>Adva</a:t>
            </a:r>
            <a:r>
              <a:rPr lang="en-US" sz="6818" u="none" strike="noStrike">
                <a:solidFill>
                  <a:srgbClr val="CD4146"/>
                </a:solidFill>
                <a:latin typeface="Oswald"/>
                <a:ea typeface="Oswald"/>
                <a:cs typeface="Oswald"/>
                <a:sym typeface="Oswald"/>
              </a:rPr>
              <a:t>ntages and Limitations of AutoViz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355400" y="4714559"/>
            <a:ext cx="6384045" cy="223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Advantages</a:t>
            </a: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Generates complete EDA automatically</a:t>
            </a: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Saves time and reduces errors</a:t>
            </a: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Produces interactive, shareable outputs</a:t>
            </a: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Useful starting point for deeper modeling</a:t>
            </a:r>
          </a:p>
          <a:p>
            <a:pPr algn="just">
              <a:lnSpc>
                <a:spcPts val="2940"/>
              </a:lnSpc>
            </a:pPr>
            <a:endParaRPr lang="en-US" sz="2100">
              <a:solidFill>
                <a:srgbClr val="CD414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360302" y="4823569"/>
            <a:ext cx="780254" cy="510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03"/>
              </a:lnSpc>
              <a:spcBef>
                <a:spcPct val="0"/>
              </a:spcBef>
            </a:pPr>
            <a:r>
              <a:rPr lang="en-US" sz="278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543653" y="4714559"/>
            <a:ext cx="6384045" cy="223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Limitations</a:t>
            </a: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Limited customization of chart styles</a:t>
            </a: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Few visuals for text-heavy datasets</a:t>
            </a: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Less flexible than full Matplotlib or Seaborn coding</a:t>
            </a:r>
          </a:p>
          <a:p>
            <a:pPr algn="just">
              <a:lnSpc>
                <a:spcPts val="2940"/>
              </a:lnSpc>
            </a:pPr>
            <a:endParaRPr lang="en-US" sz="2100">
              <a:solidFill>
                <a:srgbClr val="CD414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548556" y="4823569"/>
            <a:ext cx="780254" cy="510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03"/>
              </a:lnSpc>
              <a:spcBef>
                <a:spcPct val="0"/>
              </a:spcBef>
            </a:pPr>
            <a:r>
              <a:rPr lang="en-US" sz="278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id="18" name="Freeform 18"/>
          <p:cNvSpPr/>
          <p:nvPr/>
        </p:nvSpPr>
        <p:spPr>
          <a:xfrm>
            <a:off x="-3040654" y="7775425"/>
            <a:ext cx="6081308" cy="5992529"/>
          </a:xfrm>
          <a:custGeom>
            <a:avLst/>
            <a:gdLst/>
            <a:ahLst/>
            <a:cxnLst/>
            <a:rect l="l" t="t" r="r" b="b"/>
            <a:pathLst>
              <a:path w="6081308" h="5992529">
                <a:moveTo>
                  <a:pt x="0" y="0"/>
                </a:moveTo>
                <a:lnTo>
                  <a:pt x="6081308" y="0"/>
                </a:lnTo>
                <a:lnTo>
                  <a:pt x="6081308" y="5992529"/>
                </a:lnTo>
                <a:lnTo>
                  <a:pt x="0" y="59925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704117" y="8148954"/>
            <a:ext cx="6081308" cy="5992529"/>
          </a:xfrm>
          <a:custGeom>
            <a:avLst/>
            <a:gdLst/>
            <a:ahLst/>
            <a:cxnLst/>
            <a:rect l="l" t="t" r="r" b="b"/>
            <a:pathLst>
              <a:path w="6081308" h="5992529">
                <a:moveTo>
                  <a:pt x="0" y="0"/>
                </a:moveTo>
                <a:lnTo>
                  <a:pt x="6081308" y="0"/>
                </a:lnTo>
                <a:lnTo>
                  <a:pt x="6081308" y="5992529"/>
                </a:lnTo>
                <a:lnTo>
                  <a:pt x="0" y="59925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16218" y="0"/>
                  </a:moveTo>
                  <a:lnTo>
                    <a:pt x="4258508" y="0"/>
                  </a:lnTo>
                  <a:cubicBezTo>
                    <a:pt x="4267465" y="0"/>
                    <a:pt x="4274726" y="7261"/>
                    <a:pt x="4274726" y="16218"/>
                  </a:cubicBezTo>
                  <a:lnTo>
                    <a:pt x="4274726" y="2151249"/>
                  </a:lnTo>
                  <a:cubicBezTo>
                    <a:pt x="4274726" y="2160206"/>
                    <a:pt x="4267465" y="2167467"/>
                    <a:pt x="4258508" y="2167467"/>
                  </a:cubicBezTo>
                  <a:lnTo>
                    <a:pt x="16218" y="2167467"/>
                  </a:lnTo>
                  <a:cubicBezTo>
                    <a:pt x="7261" y="2167467"/>
                    <a:pt x="0" y="2160206"/>
                    <a:pt x="0" y="2151249"/>
                  </a:cubicBezTo>
                  <a:lnTo>
                    <a:pt x="0" y="16218"/>
                  </a:lnTo>
                  <a:cubicBezTo>
                    <a:pt x="0" y="7261"/>
                    <a:pt x="7261" y="0"/>
                    <a:pt x="1621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D4146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4274726" cy="2224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175491" y="3003203"/>
            <a:ext cx="9001576" cy="2438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912"/>
              </a:lnSpc>
              <a:spcBef>
                <a:spcPct val="0"/>
              </a:spcBef>
            </a:pPr>
            <a:r>
              <a:rPr lang="en-US" sz="14223" u="none" strike="noStrike">
                <a:solidFill>
                  <a:srgbClr val="CD4146"/>
                </a:solidFill>
                <a:latin typeface="Oswald"/>
                <a:ea typeface="Oswald"/>
                <a:cs typeface="Oswald"/>
                <a:sym typeface="Oswald"/>
              </a:rPr>
              <a:t>Thank You</a:t>
            </a:r>
          </a:p>
        </p:txBody>
      </p:sp>
      <p:sp>
        <p:nvSpPr>
          <p:cNvPr id="8" name="Freeform 8"/>
          <p:cNvSpPr/>
          <p:nvPr/>
        </p:nvSpPr>
        <p:spPr>
          <a:xfrm>
            <a:off x="10165512" y="3279428"/>
            <a:ext cx="5690498" cy="4573091"/>
          </a:xfrm>
          <a:custGeom>
            <a:avLst/>
            <a:gdLst/>
            <a:ahLst/>
            <a:cxnLst/>
            <a:rect l="l" t="t" r="r" b="b"/>
            <a:pathLst>
              <a:path w="5690498" h="4573091">
                <a:moveTo>
                  <a:pt x="0" y="0"/>
                </a:moveTo>
                <a:lnTo>
                  <a:pt x="5690498" y="0"/>
                </a:lnTo>
                <a:lnTo>
                  <a:pt x="5690498" y="4573091"/>
                </a:lnTo>
                <a:lnTo>
                  <a:pt x="0" y="45730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4526952" y="-4360440"/>
            <a:ext cx="6081308" cy="5992529"/>
          </a:xfrm>
          <a:custGeom>
            <a:avLst/>
            <a:gdLst/>
            <a:ahLst/>
            <a:cxnLst/>
            <a:rect l="l" t="t" r="r" b="b"/>
            <a:pathLst>
              <a:path w="6081308" h="5992529">
                <a:moveTo>
                  <a:pt x="0" y="0"/>
                </a:moveTo>
                <a:lnTo>
                  <a:pt x="6081308" y="0"/>
                </a:lnTo>
                <a:lnTo>
                  <a:pt x="6081308" y="5992530"/>
                </a:lnTo>
                <a:lnTo>
                  <a:pt x="0" y="59925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604</Words>
  <Application>Microsoft Office PowerPoint</Application>
  <PresentationFormat>Custom</PresentationFormat>
  <Paragraphs>108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Calibri</vt:lpstr>
      <vt:lpstr>Arial</vt:lpstr>
      <vt:lpstr>Poppins Bold</vt:lpstr>
      <vt:lpstr>Oswald</vt:lpstr>
      <vt:lpstr>Oswald Bold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Midterm – AutoViz: Automated Exploratory Data Analysis</dc:title>
  <cp:lastModifiedBy>Alejandro Pinto</cp:lastModifiedBy>
  <cp:revision>4</cp:revision>
  <dcterms:created xsi:type="dcterms:W3CDTF">2006-08-16T00:00:00Z</dcterms:created>
  <dcterms:modified xsi:type="dcterms:W3CDTF">2025-11-03T04:29:37Z</dcterms:modified>
  <dc:identifier>DAG3IW_7zEk</dc:identifier>
</cp:coreProperties>
</file>